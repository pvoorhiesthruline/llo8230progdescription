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ln/>
          <a:effectLst>
            <a:outerShdw sx="100000" sy="100000" kx="0" ky="0" algn="bl" rotWithShape="0" blurRad="762000" dist="285750" dir="5400000">
              <a:srgbClr val="000000">
                <a:alpha val="45000"/>
              </a:srgbClr>
            </a:outerShdw>
          </a:effectLst>
        </p:spPr>
      </p:sp>
      <p:sp>
        <p:nvSpPr>
          <p:cNvPr id="3" name="Shape 1"/>
          <p:cNvSpPr/>
          <p:nvPr/>
        </p:nvSpPr>
        <p:spPr>
          <a:xfrm>
            <a:off x="0" y="0"/>
            <a:ext cx="18288000" cy="10287000"/>
          </a:xfrm>
          <a:prstGeom prst="rect">
            <a:avLst/>
          </a:prstGeom>
          <a:solidFill>
            <a:srgbClr val="FBFAF7"/>
          </a:solidFill>
          <a:ln/>
        </p:spPr>
      </p:sp>
      <p:sp>
        <p:nvSpPr>
          <p:cNvPr id="4" name="Shape 2"/>
          <p:cNvSpPr/>
          <p:nvPr/>
        </p:nvSpPr>
        <p:spPr>
          <a:xfrm>
            <a:off x="0" y="0"/>
            <a:ext cx="152400" cy="10287000"/>
          </a:xfrm>
          <a:prstGeom prst="rect">
            <a:avLst/>
          </a:prstGeom>
          <a:solidFill>
            <a:srgbClr val="B49248"/>
          </a:solidFill>
          <a:ln/>
        </p:spPr>
      </p:sp>
      <p:sp>
        <p:nvSpPr>
          <p:cNvPr id="5" name="Text 3"/>
          <p:cNvSpPr/>
          <p:nvPr/>
        </p:nvSpPr>
        <p:spPr>
          <a:xfrm>
            <a:off x="838200" y="304800"/>
            <a:ext cx="2364953" cy="176212"/>
          </a:xfrm>
          <a:prstGeom prst="rect">
            <a:avLst/>
          </a:prstGeom>
          <a:noFill/>
          <a:ln/>
        </p:spPr>
        <p:txBody>
          <a:bodyPr wrap="square" lIns="25400" tIns="25400" rIns="25400" bIns="25400" rtlCol="0" anchor="t">
            <a:normAutofit/>
          </a:bodyPr>
          <a:lstStyle/>
          <a:p>
            <a:pPr algn="l" indent="0" marL="0">
              <a:buNone/>
            </a:pPr>
            <a:r>
              <a:rPr lang="en-US" sz="900" b="1" spc="162" kern="0" dirty="0">
                <a:solidFill>
                  <a:srgbClr val="6F6A60"/>
                </a:solidFill>
                <a:latin typeface="Arial" pitchFamily="34" charset="0"/>
                <a:ea typeface="Arial" pitchFamily="34" charset="-122"/>
                <a:cs typeface="Arial" pitchFamily="34" charset="-120"/>
              </a:rPr>
              <a:t>VANDERBILT PEABODY COLLEGE</a:t>
            </a:r>
            <a:endParaRPr lang="en-US" sz="900" dirty="0"/>
          </a:p>
        </p:txBody>
      </p:sp>
      <p:sp>
        <p:nvSpPr>
          <p:cNvPr id="6" name="Text 4"/>
          <p:cNvSpPr/>
          <p:nvPr/>
        </p:nvSpPr>
        <p:spPr>
          <a:xfrm>
            <a:off x="3260303" y="304800"/>
            <a:ext cx="211113" cy="176212"/>
          </a:xfrm>
          <a:prstGeom prst="rect">
            <a:avLst/>
          </a:prstGeom>
          <a:noFill/>
          <a:ln/>
        </p:spPr>
        <p:txBody>
          <a:bodyPr wrap="square" lIns="25400" tIns="25400" rIns="25400" bIns="25400" rtlCol="0" anchor="t">
            <a:normAutofit/>
          </a:bodyPr>
          <a:lstStyle/>
          <a:p>
            <a:pPr algn="l" indent="0" marL="0">
              <a:buNone/>
            </a:pPr>
            <a:r>
              <a:rPr lang="en-US" sz="900" b="1" spc="162" kern="0" dirty="0">
                <a:solidFill>
                  <a:srgbClr val="6F6A60">
                    <a:alpha val="40000"/>
                  </a:srgbClr>
                </a:solidFill>
                <a:latin typeface="Arial" pitchFamily="34" charset="0"/>
                <a:ea typeface="Arial" pitchFamily="34" charset="-122"/>
                <a:cs typeface="Arial" pitchFamily="34" charset="-120"/>
              </a:rPr>
              <a:t>—</a:t>
            </a:r>
            <a:endParaRPr lang="en-US" sz="900" dirty="0"/>
          </a:p>
        </p:txBody>
      </p:sp>
      <p:sp>
        <p:nvSpPr>
          <p:cNvPr id="7" name="Text 5"/>
          <p:cNvSpPr/>
          <p:nvPr/>
        </p:nvSpPr>
        <p:spPr>
          <a:xfrm>
            <a:off x="3528566" y="304800"/>
            <a:ext cx="2509465" cy="176212"/>
          </a:xfrm>
          <a:prstGeom prst="rect">
            <a:avLst/>
          </a:prstGeom>
          <a:noFill/>
          <a:ln/>
        </p:spPr>
        <p:txBody>
          <a:bodyPr wrap="square" lIns="25400" tIns="25400" rIns="25400" bIns="25400" rtlCol="0" anchor="t">
            <a:normAutofit/>
          </a:bodyPr>
          <a:lstStyle/>
          <a:p>
            <a:pPr algn="l" indent="0" marL="0">
              <a:buNone/>
            </a:pPr>
            <a:r>
              <a:rPr lang="en-US" sz="900" b="1" spc="162" kern="0" dirty="0">
                <a:solidFill>
                  <a:srgbClr val="946E24"/>
                </a:solidFill>
                <a:latin typeface="Arial" pitchFamily="34" charset="0"/>
                <a:ea typeface="Arial" pitchFamily="34" charset="-122"/>
                <a:cs typeface="Arial" pitchFamily="34" charset="-120"/>
              </a:rPr>
              <a:t>LLO 8230: PROGRAM EVALUATION</a:t>
            </a:r>
            <a:endParaRPr lang="en-US" sz="900" dirty="0"/>
          </a:p>
        </p:txBody>
      </p:sp>
      <p:sp>
        <p:nvSpPr>
          <p:cNvPr id="8" name="Text 6"/>
          <p:cNvSpPr/>
          <p:nvPr/>
        </p:nvSpPr>
        <p:spPr>
          <a:xfrm>
            <a:off x="838200" y="500063"/>
            <a:ext cx="17266920" cy="526703"/>
          </a:xfrm>
          <a:prstGeom prst="rect">
            <a:avLst/>
          </a:prstGeom>
          <a:noFill/>
          <a:ln/>
        </p:spPr>
        <p:txBody>
          <a:bodyPr wrap="square" lIns="25400" tIns="25400" rIns="25400" bIns="25400" rtlCol="0" anchor="t">
            <a:normAutofit/>
          </a:bodyPr>
          <a:lstStyle/>
          <a:p>
            <a:pPr algn="l" indent="0" marL="0">
              <a:lnSpc>
                <a:spcPct val="95000"/>
              </a:lnSpc>
              <a:buNone/>
            </a:pPr>
            <a:r>
              <a:rPr lang="en-US" sz="4050" b="1" spc="-142" kern="0" dirty="0">
                <a:solidFill>
                  <a:srgbClr val="1C1C1C"/>
                </a:solidFill>
                <a:latin typeface="Arial" pitchFamily="34" charset="0"/>
                <a:ea typeface="Arial" pitchFamily="34" charset="-122"/>
                <a:cs typeface="Arial" pitchFamily="34" charset="-120"/>
              </a:rPr>
              <a:t>Pluralistic Program Description.</a:t>
            </a:r>
            <a:endParaRPr lang="en-US" sz="4050" dirty="0"/>
          </a:p>
        </p:txBody>
      </p:sp>
      <p:sp>
        <p:nvSpPr>
          <p:cNvPr id="9" name="Text 7"/>
          <p:cNvSpPr/>
          <p:nvPr/>
        </p:nvSpPr>
        <p:spPr>
          <a:xfrm>
            <a:off x="838200" y="1083915"/>
            <a:ext cx="16089630" cy="493812"/>
          </a:xfrm>
          <a:prstGeom prst="rect">
            <a:avLst/>
          </a:prstGeom>
          <a:noFill/>
          <a:ln/>
        </p:spPr>
        <p:txBody>
          <a:bodyPr wrap="square" lIns="25400" tIns="25400" rIns="25400" bIns="25400" rtlCol="0" anchor="t">
            <a:normAutofit/>
          </a:bodyPr>
          <a:lstStyle/>
          <a:p>
            <a:pPr algn="l" indent="0" marL="0">
              <a:lnSpc>
                <a:spcPct val="145000"/>
              </a:lnSpc>
              <a:buNone/>
            </a:pPr>
            <a:r>
              <a:rPr lang="en-US" sz="1238" dirty="0">
                <a:solidFill>
                  <a:srgbClr val="2A2825"/>
                </a:solidFill>
                <a:latin typeface="Arial" pitchFamily="34" charset="0"/>
                <a:ea typeface="Arial" pitchFamily="34" charset="-122"/>
                <a:cs typeface="Arial" pitchFamily="34" charset="-120"/>
              </a:rPr>
              <a:t>The goal is to ‘tell the story’ of the program in context and from multiple perspectives. In the end, this should be both familiar and intriguing to your evaluation sponsors. The way that you weave the story of the program as related to the problem it addresses, the current situation, and the broader context will set the stage for the scope and focus of the evaluation design.</a:t>
            </a:r>
            <a:endParaRPr lang="en-US" sz="1238" dirty="0"/>
          </a:p>
        </p:txBody>
      </p:sp>
      <p:sp>
        <p:nvSpPr>
          <p:cNvPr id="10" name="Shape 8"/>
          <p:cNvSpPr/>
          <p:nvPr/>
        </p:nvSpPr>
        <p:spPr>
          <a:xfrm>
            <a:off x="838200" y="1692027"/>
            <a:ext cx="16764000" cy="9525"/>
          </a:xfrm>
          <a:prstGeom prst="rect">
            <a:avLst/>
          </a:prstGeom>
          <a:solidFill>
            <a:srgbClr val="D8D2C5"/>
          </a:solidFill>
          <a:ln/>
        </p:spPr>
      </p:sp>
      <p:sp>
        <p:nvSpPr>
          <p:cNvPr id="11" name="Text 9"/>
          <p:cNvSpPr/>
          <p:nvPr/>
        </p:nvSpPr>
        <p:spPr>
          <a:xfrm>
            <a:off x="838200" y="1796802"/>
            <a:ext cx="2171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i="1" spc="-66" kern="0" dirty="0">
                <a:solidFill>
                  <a:srgbClr val="946E24"/>
                </a:solidFill>
                <a:latin typeface="Georgia" pitchFamily="34" charset="0"/>
                <a:ea typeface="Georgia" pitchFamily="34" charset="-122"/>
                <a:cs typeface="Georgia" pitchFamily="34" charset="-120"/>
              </a:rPr>
              <a:t>Problem</a:t>
            </a:r>
            <a:endParaRPr lang="en-US" sz="3300" dirty="0"/>
          </a:p>
        </p:txBody>
      </p:sp>
      <p:sp>
        <p:nvSpPr>
          <p:cNvPr id="12" name="Text 10"/>
          <p:cNvSpPr/>
          <p:nvPr/>
        </p:nvSpPr>
        <p:spPr>
          <a:xfrm>
            <a:off x="3200400" y="2001589"/>
            <a:ext cx="13931265" cy="244748"/>
          </a:xfrm>
          <a:prstGeom prst="rect">
            <a:avLst/>
          </a:prstGeom>
          <a:noFill/>
          <a:ln/>
        </p:spPr>
        <p:txBody>
          <a:bodyPr wrap="square" lIns="25400" tIns="25400" rIns="25400" bIns="25400" rtlCol="0" anchor="t">
            <a:normAutofit/>
          </a:bodyPr>
          <a:lstStyle/>
          <a:p>
            <a:pPr algn="l" indent="0" marL="0">
              <a:lnSpc>
                <a:spcPct val="140000"/>
              </a:lnSpc>
              <a:buNone/>
            </a:pPr>
            <a:r>
              <a:rPr lang="en-US" sz="1163" dirty="0">
                <a:solidFill>
                  <a:srgbClr val="2A2825"/>
                </a:solidFill>
                <a:latin typeface="Arial" pitchFamily="34" charset="0"/>
                <a:ea typeface="Arial" pitchFamily="34" charset="-122"/>
                <a:cs typeface="Arial" pitchFamily="34" charset="-120"/>
              </a:rPr>
              <a:t>The issue or need the program addresses along with the significance and scope of the problem.</a:t>
            </a:r>
            <a:endParaRPr lang="en-US" sz="1163" dirty="0"/>
          </a:p>
        </p:txBody>
      </p:sp>
      <p:sp>
        <p:nvSpPr>
          <p:cNvPr id="13" name="Shape 11"/>
          <p:cNvSpPr/>
          <p:nvPr/>
        </p:nvSpPr>
        <p:spPr>
          <a:xfrm>
            <a:off x="838200" y="2311152"/>
            <a:ext cx="2682850" cy="1315269"/>
          </a:xfrm>
          <a:prstGeom prst="roundRect">
            <a:avLst>
              <a:gd name="adj" fmla="val 10139"/>
            </a:avLst>
          </a:prstGeom>
          <a:solidFill>
            <a:srgbClr val="F5F3EF"/>
          </a:solidFill>
          <a:ln w="9525">
            <a:solidFill>
              <a:srgbClr val="D8D2C5"/>
            </a:solidFill>
            <a:prstDash val="solid"/>
          </a:ln>
        </p:spPr>
      </p:sp>
      <p:sp>
        <p:nvSpPr>
          <p:cNvPr id="14" name="Text 12"/>
          <p:cNvSpPr/>
          <p:nvPr/>
        </p:nvSpPr>
        <p:spPr>
          <a:xfrm>
            <a:off x="923925" y="2740149"/>
            <a:ext cx="2511400" cy="495300"/>
          </a:xfrm>
          <a:prstGeom prst="rect">
            <a:avLst/>
          </a:prstGeom>
          <a:noFill/>
          <a:ln/>
        </p:spPr>
        <p:txBody>
          <a:bodyPr wrap="square" lIns="25400" tIns="25400" rIns="25400" bIns="25400" rtlCol="0" anchor="t">
            <a:normAutofit/>
          </a:bodyPr>
          <a:lstStyle/>
          <a:p>
            <a:pPr algn="ctr" indent="0" marL="0">
              <a:lnSpc>
                <a:spcPct val="135000"/>
              </a:lnSpc>
              <a:buNone/>
            </a:pPr>
            <a:r>
              <a:rPr lang="en-US" sz="900" spc="-4" kern="0" dirty="0">
                <a:solidFill>
                  <a:srgbClr val="2A2825"/>
                </a:solidFill>
                <a:latin typeface="Arial" pitchFamily="34" charset="0"/>
                <a:ea typeface="Arial" pitchFamily="34" charset="-122"/>
                <a:cs typeface="Arial" pitchFamily="34" charset="-120"/>
              </a:rPr>
              <a:t>Ex) Frontline leaders are not sharing critical issues in all hands meetings.</a:t>
            </a:r>
            <a:endParaRPr lang="en-US" sz="900" dirty="0"/>
          </a:p>
        </p:txBody>
      </p:sp>
      <p:sp>
        <p:nvSpPr>
          <p:cNvPr id="15" name="Shape 13"/>
          <p:cNvSpPr/>
          <p:nvPr/>
        </p:nvSpPr>
        <p:spPr>
          <a:xfrm>
            <a:off x="3654400" y="2311152"/>
            <a:ext cx="2682850" cy="1315269"/>
          </a:xfrm>
          <a:prstGeom prst="roundRect">
            <a:avLst>
              <a:gd name="adj" fmla="val 10139"/>
            </a:avLst>
          </a:prstGeom>
          <a:solidFill>
            <a:srgbClr val="F5F3EF"/>
          </a:solidFill>
          <a:ln w="9525">
            <a:solidFill>
              <a:srgbClr val="D8D2C5"/>
            </a:solidFill>
            <a:prstDash val="solid"/>
          </a:ln>
        </p:spPr>
      </p:sp>
      <p:sp>
        <p:nvSpPr>
          <p:cNvPr id="16" name="Shape 14"/>
          <p:cNvSpPr/>
          <p:nvPr/>
        </p:nvSpPr>
        <p:spPr>
          <a:xfrm>
            <a:off x="6470600" y="2311152"/>
            <a:ext cx="2682850" cy="1315269"/>
          </a:xfrm>
          <a:prstGeom prst="roundRect">
            <a:avLst>
              <a:gd name="adj" fmla="val 10139"/>
            </a:avLst>
          </a:prstGeom>
          <a:solidFill>
            <a:srgbClr val="F5F3EF"/>
          </a:solidFill>
          <a:ln w="9525">
            <a:solidFill>
              <a:srgbClr val="D8D2C5"/>
            </a:solidFill>
            <a:prstDash val="solid"/>
          </a:ln>
        </p:spPr>
      </p:sp>
      <p:sp>
        <p:nvSpPr>
          <p:cNvPr id="17" name="Shape 15"/>
          <p:cNvSpPr/>
          <p:nvPr/>
        </p:nvSpPr>
        <p:spPr>
          <a:xfrm>
            <a:off x="9286801" y="2311152"/>
            <a:ext cx="2682925" cy="1315269"/>
          </a:xfrm>
          <a:prstGeom prst="roundRect">
            <a:avLst>
              <a:gd name="adj" fmla="val 10139"/>
            </a:avLst>
          </a:prstGeom>
          <a:solidFill>
            <a:srgbClr val="F5F3EF"/>
          </a:solidFill>
          <a:ln w="9525">
            <a:solidFill>
              <a:srgbClr val="D8D2C5"/>
            </a:solidFill>
            <a:prstDash val="solid"/>
          </a:ln>
        </p:spPr>
      </p:sp>
      <p:sp>
        <p:nvSpPr>
          <p:cNvPr id="18" name="Shape 16"/>
          <p:cNvSpPr/>
          <p:nvPr/>
        </p:nvSpPr>
        <p:spPr>
          <a:xfrm>
            <a:off x="12103075" y="2311152"/>
            <a:ext cx="2682850" cy="1315269"/>
          </a:xfrm>
          <a:prstGeom prst="roundRect">
            <a:avLst>
              <a:gd name="adj" fmla="val 10139"/>
            </a:avLst>
          </a:prstGeom>
          <a:solidFill>
            <a:srgbClr val="F5F3EF"/>
          </a:solidFill>
          <a:ln w="9525">
            <a:solidFill>
              <a:srgbClr val="D8D2C5"/>
            </a:solidFill>
            <a:prstDash val="solid"/>
          </a:ln>
        </p:spPr>
      </p:sp>
      <p:sp>
        <p:nvSpPr>
          <p:cNvPr id="19" name="Shape 17"/>
          <p:cNvSpPr/>
          <p:nvPr/>
        </p:nvSpPr>
        <p:spPr>
          <a:xfrm>
            <a:off x="14919275" y="2311152"/>
            <a:ext cx="2682850" cy="1315269"/>
          </a:xfrm>
          <a:prstGeom prst="roundRect">
            <a:avLst>
              <a:gd name="adj" fmla="val 10139"/>
            </a:avLst>
          </a:prstGeom>
          <a:solidFill>
            <a:srgbClr val="F5F3EF"/>
          </a:solidFill>
          <a:ln w="9525">
            <a:solidFill>
              <a:srgbClr val="D8D2C5"/>
            </a:solidFill>
            <a:prstDash val="solid"/>
          </a:ln>
        </p:spPr>
      </p:sp>
      <p:sp>
        <p:nvSpPr>
          <p:cNvPr id="20" name="Shape 18"/>
          <p:cNvSpPr/>
          <p:nvPr/>
        </p:nvSpPr>
        <p:spPr>
          <a:xfrm>
            <a:off x="838200" y="3721671"/>
            <a:ext cx="16764000" cy="9525"/>
          </a:xfrm>
          <a:prstGeom prst="rect">
            <a:avLst/>
          </a:prstGeom>
          <a:solidFill>
            <a:srgbClr val="D8D2C5"/>
          </a:solidFill>
          <a:ln/>
        </p:spPr>
      </p:sp>
      <p:sp>
        <p:nvSpPr>
          <p:cNvPr id="21" name="Text 19"/>
          <p:cNvSpPr/>
          <p:nvPr/>
        </p:nvSpPr>
        <p:spPr>
          <a:xfrm>
            <a:off x="838200" y="3826446"/>
            <a:ext cx="2171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i="1" spc="-66" kern="0" dirty="0">
                <a:solidFill>
                  <a:srgbClr val="946E24"/>
                </a:solidFill>
                <a:latin typeface="Georgia" pitchFamily="34" charset="0"/>
                <a:ea typeface="Georgia" pitchFamily="34" charset="-122"/>
                <a:cs typeface="Georgia" pitchFamily="34" charset="-120"/>
              </a:rPr>
              <a:t>Program</a:t>
            </a:r>
            <a:endParaRPr lang="en-US" sz="3300" dirty="0"/>
          </a:p>
        </p:txBody>
      </p:sp>
      <p:sp>
        <p:nvSpPr>
          <p:cNvPr id="22" name="Text 20"/>
          <p:cNvSpPr/>
          <p:nvPr/>
        </p:nvSpPr>
        <p:spPr>
          <a:xfrm>
            <a:off x="3200400" y="4031233"/>
            <a:ext cx="13931265" cy="451396"/>
          </a:xfrm>
          <a:prstGeom prst="rect">
            <a:avLst/>
          </a:prstGeom>
          <a:noFill/>
          <a:ln/>
        </p:spPr>
        <p:txBody>
          <a:bodyPr wrap="square" lIns="25400" tIns="25400" rIns="25400" bIns="25400" rtlCol="0" anchor="t">
            <a:normAutofit/>
          </a:bodyPr>
          <a:lstStyle/>
          <a:p>
            <a:pPr algn="l" indent="0" marL="0">
              <a:lnSpc>
                <a:spcPct val="140000"/>
              </a:lnSpc>
              <a:buNone/>
            </a:pPr>
            <a:r>
              <a:rPr lang="en-US" sz="1163" dirty="0">
                <a:solidFill>
                  <a:srgbClr val="2A2825"/>
                </a:solidFill>
                <a:latin typeface="Arial" pitchFamily="34" charset="0"/>
                <a:ea typeface="Arial" pitchFamily="34" charset="-122"/>
                <a:cs typeface="Arial" pitchFamily="34" charset="-120"/>
              </a:rPr>
              <a:t>The ‘program’ is simply a coordinated set of activities, resources, and experiences designed to produce an outcome (CDC, 1999). It can be an intervention, a policy, a process, etc. Here, outline goals and objectives, describe key activities, and identify the target population and stakeholders.</a:t>
            </a:r>
            <a:endParaRPr lang="en-US" sz="1163" dirty="0"/>
          </a:p>
        </p:txBody>
      </p:sp>
      <p:sp>
        <p:nvSpPr>
          <p:cNvPr id="23" name="Shape 21"/>
          <p:cNvSpPr/>
          <p:nvPr/>
        </p:nvSpPr>
        <p:spPr>
          <a:xfrm>
            <a:off x="838200" y="4539779"/>
            <a:ext cx="2682850" cy="1116360"/>
          </a:xfrm>
          <a:prstGeom prst="roundRect">
            <a:avLst>
              <a:gd name="adj" fmla="val 11945"/>
            </a:avLst>
          </a:prstGeom>
          <a:solidFill>
            <a:srgbClr val="F5F3EF"/>
          </a:solidFill>
          <a:ln w="9525">
            <a:solidFill>
              <a:srgbClr val="D8D2C5"/>
            </a:solidFill>
            <a:prstDash val="solid"/>
          </a:ln>
        </p:spPr>
      </p:sp>
      <p:sp>
        <p:nvSpPr>
          <p:cNvPr id="24" name="Text 22"/>
          <p:cNvSpPr/>
          <p:nvPr/>
        </p:nvSpPr>
        <p:spPr>
          <a:xfrm>
            <a:off x="923925" y="4712271"/>
            <a:ext cx="2511400" cy="809402"/>
          </a:xfrm>
          <a:prstGeom prst="rect">
            <a:avLst/>
          </a:prstGeom>
          <a:noFill/>
          <a:ln/>
        </p:spPr>
        <p:txBody>
          <a:bodyPr wrap="square" lIns="25400" tIns="25400" rIns="25400" bIns="25400" rtlCol="0" anchor="t">
            <a:normAutofit/>
          </a:bodyPr>
          <a:lstStyle/>
          <a:p>
            <a:pPr algn="ctr" indent="0" marL="0">
              <a:lnSpc>
                <a:spcPct val="135000"/>
              </a:lnSpc>
              <a:buNone/>
            </a:pPr>
            <a:r>
              <a:rPr lang="en-US" sz="900" spc="-4" kern="0" dirty="0">
                <a:solidFill>
                  <a:srgbClr val="2A2825"/>
                </a:solidFill>
                <a:latin typeface="Arial" pitchFamily="34" charset="0"/>
                <a:ea typeface="Arial" pitchFamily="34" charset="-122"/>
                <a:cs typeface="Arial" pitchFamily="34" charset="-120"/>
              </a:rPr>
              <a:t>Ex) A single-session workshop addresses audience analysis and communication strategies for frontline leaders, with a goal of increasing information sharing and collaborative problem-solving in meetings.</a:t>
            </a:r>
            <a:endParaRPr lang="en-US" sz="900" dirty="0"/>
          </a:p>
        </p:txBody>
      </p:sp>
      <p:sp>
        <p:nvSpPr>
          <p:cNvPr id="25" name="Shape 23"/>
          <p:cNvSpPr/>
          <p:nvPr/>
        </p:nvSpPr>
        <p:spPr>
          <a:xfrm>
            <a:off x="3654400" y="4539779"/>
            <a:ext cx="2682850" cy="1116360"/>
          </a:xfrm>
          <a:prstGeom prst="roundRect">
            <a:avLst>
              <a:gd name="adj" fmla="val 11945"/>
            </a:avLst>
          </a:prstGeom>
          <a:solidFill>
            <a:srgbClr val="F5F3EF"/>
          </a:solidFill>
          <a:ln w="9525">
            <a:solidFill>
              <a:srgbClr val="D8D2C5"/>
            </a:solidFill>
            <a:prstDash val="solid"/>
          </a:ln>
        </p:spPr>
      </p:sp>
      <p:sp>
        <p:nvSpPr>
          <p:cNvPr id="26" name="Shape 24"/>
          <p:cNvSpPr/>
          <p:nvPr/>
        </p:nvSpPr>
        <p:spPr>
          <a:xfrm>
            <a:off x="6470600" y="4539779"/>
            <a:ext cx="2682850" cy="1116360"/>
          </a:xfrm>
          <a:prstGeom prst="roundRect">
            <a:avLst>
              <a:gd name="adj" fmla="val 11945"/>
            </a:avLst>
          </a:prstGeom>
          <a:solidFill>
            <a:srgbClr val="F5F3EF"/>
          </a:solidFill>
          <a:ln w="9525">
            <a:solidFill>
              <a:srgbClr val="D8D2C5"/>
            </a:solidFill>
            <a:prstDash val="solid"/>
          </a:ln>
        </p:spPr>
      </p:sp>
      <p:sp>
        <p:nvSpPr>
          <p:cNvPr id="27" name="Shape 25"/>
          <p:cNvSpPr/>
          <p:nvPr/>
        </p:nvSpPr>
        <p:spPr>
          <a:xfrm>
            <a:off x="9286801" y="4539779"/>
            <a:ext cx="2682925" cy="1116360"/>
          </a:xfrm>
          <a:prstGeom prst="roundRect">
            <a:avLst>
              <a:gd name="adj" fmla="val 11945"/>
            </a:avLst>
          </a:prstGeom>
          <a:solidFill>
            <a:srgbClr val="F5F3EF"/>
          </a:solidFill>
          <a:ln w="9525">
            <a:solidFill>
              <a:srgbClr val="D8D2C5"/>
            </a:solidFill>
            <a:prstDash val="solid"/>
          </a:ln>
        </p:spPr>
      </p:sp>
      <p:sp>
        <p:nvSpPr>
          <p:cNvPr id="28" name="Shape 26"/>
          <p:cNvSpPr/>
          <p:nvPr/>
        </p:nvSpPr>
        <p:spPr>
          <a:xfrm>
            <a:off x="12103075" y="4539779"/>
            <a:ext cx="2682850" cy="1116360"/>
          </a:xfrm>
          <a:prstGeom prst="roundRect">
            <a:avLst>
              <a:gd name="adj" fmla="val 11945"/>
            </a:avLst>
          </a:prstGeom>
          <a:solidFill>
            <a:srgbClr val="F5F3EF"/>
          </a:solidFill>
          <a:ln w="9525">
            <a:solidFill>
              <a:srgbClr val="D8D2C5"/>
            </a:solidFill>
            <a:prstDash val="solid"/>
          </a:ln>
        </p:spPr>
      </p:sp>
      <p:sp>
        <p:nvSpPr>
          <p:cNvPr id="29" name="Shape 27"/>
          <p:cNvSpPr/>
          <p:nvPr/>
        </p:nvSpPr>
        <p:spPr>
          <a:xfrm>
            <a:off x="14919275" y="4539779"/>
            <a:ext cx="2682850" cy="1116360"/>
          </a:xfrm>
          <a:prstGeom prst="roundRect">
            <a:avLst>
              <a:gd name="adj" fmla="val 11945"/>
            </a:avLst>
          </a:prstGeom>
          <a:solidFill>
            <a:srgbClr val="F5F3EF"/>
          </a:solidFill>
          <a:ln w="9525">
            <a:solidFill>
              <a:srgbClr val="D8D2C5"/>
            </a:solidFill>
            <a:prstDash val="solid"/>
          </a:ln>
        </p:spPr>
      </p:sp>
      <p:sp>
        <p:nvSpPr>
          <p:cNvPr id="30" name="Shape 28"/>
          <p:cNvSpPr/>
          <p:nvPr/>
        </p:nvSpPr>
        <p:spPr>
          <a:xfrm>
            <a:off x="838200" y="5751388"/>
            <a:ext cx="16764000" cy="9525"/>
          </a:xfrm>
          <a:prstGeom prst="rect">
            <a:avLst/>
          </a:prstGeom>
          <a:solidFill>
            <a:srgbClr val="D8D2C5"/>
          </a:solidFill>
          <a:ln/>
        </p:spPr>
      </p:sp>
      <p:sp>
        <p:nvSpPr>
          <p:cNvPr id="31" name="Text 29"/>
          <p:cNvSpPr/>
          <p:nvPr/>
        </p:nvSpPr>
        <p:spPr>
          <a:xfrm>
            <a:off x="838200" y="5856163"/>
            <a:ext cx="2171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i="1" spc="-66" kern="0" dirty="0">
                <a:solidFill>
                  <a:srgbClr val="946E24"/>
                </a:solidFill>
                <a:latin typeface="Georgia" pitchFamily="34" charset="0"/>
                <a:ea typeface="Georgia" pitchFamily="34" charset="-122"/>
                <a:cs typeface="Georgia" pitchFamily="34" charset="-120"/>
              </a:rPr>
              <a:t>Situation</a:t>
            </a:r>
            <a:endParaRPr lang="en-US" sz="3300" dirty="0"/>
          </a:p>
        </p:txBody>
      </p:sp>
      <p:sp>
        <p:nvSpPr>
          <p:cNvPr id="32" name="Text 30"/>
          <p:cNvSpPr/>
          <p:nvPr/>
        </p:nvSpPr>
        <p:spPr>
          <a:xfrm>
            <a:off x="3200400" y="6060951"/>
            <a:ext cx="13931265" cy="244748"/>
          </a:xfrm>
          <a:prstGeom prst="rect">
            <a:avLst/>
          </a:prstGeom>
          <a:noFill/>
          <a:ln/>
        </p:spPr>
        <p:txBody>
          <a:bodyPr wrap="square" lIns="25400" tIns="25400" rIns="25400" bIns="25400" rtlCol="0" anchor="t">
            <a:normAutofit/>
          </a:bodyPr>
          <a:lstStyle/>
          <a:p>
            <a:pPr algn="l" indent="0" marL="0">
              <a:lnSpc>
                <a:spcPct val="140000"/>
              </a:lnSpc>
              <a:buNone/>
            </a:pPr>
            <a:r>
              <a:rPr lang="en-US" sz="1163" dirty="0">
                <a:solidFill>
                  <a:srgbClr val="2A2825"/>
                </a:solidFill>
                <a:latin typeface="Arial" pitchFamily="34" charset="0"/>
                <a:ea typeface="Arial" pitchFamily="34" charset="-122"/>
                <a:cs typeface="Arial" pitchFamily="34" charset="-120"/>
              </a:rPr>
              <a:t>The current circumstances that are immediate and directly observable, including any relevant environmental factors.</a:t>
            </a:r>
            <a:endParaRPr lang="en-US" sz="1163" dirty="0"/>
          </a:p>
        </p:txBody>
      </p:sp>
      <p:sp>
        <p:nvSpPr>
          <p:cNvPr id="33" name="Shape 31"/>
          <p:cNvSpPr/>
          <p:nvPr/>
        </p:nvSpPr>
        <p:spPr>
          <a:xfrm>
            <a:off x="838200" y="6370513"/>
            <a:ext cx="2682850" cy="1315269"/>
          </a:xfrm>
          <a:prstGeom prst="roundRect">
            <a:avLst>
              <a:gd name="adj" fmla="val 10139"/>
            </a:avLst>
          </a:prstGeom>
          <a:solidFill>
            <a:srgbClr val="F5F3EF"/>
          </a:solidFill>
          <a:ln w="9525">
            <a:solidFill>
              <a:srgbClr val="D8D2C5"/>
            </a:solidFill>
            <a:prstDash val="solid"/>
          </a:ln>
        </p:spPr>
      </p:sp>
      <p:sp>
        <p:nvSpPr>
          <p:cNvPr id="34" name="Text 32"/>
          <p:cNvSpPr/>
          <p:nvPr/>
        </p:nvSpPr>
        <p:spPr>
          <a:xfrm>
            <a:off x="923925" y="6719590"/>
            <a:ext cx="2511400" cy="655141"/>
          </a:xfrm>
          <a:prstGeom prst="rect">
            <a:avLst/>
          </a:prstGeom>
          <a:noFill/>
          <a:ln/>
        </p:spPr>
        <p:txBody>
          <a:bodyPr wrap="square" lIns="25400" tIns="25400" rIns="25400" bIns="25400" rtlCol="0" anchor="t">
            <a:normAutofit/>
          </a:bodyPr>
          <a:lstStyle/>
          <a:p>
            <a:pPr algn="ctr" indent="0" marL="0">
              <a:lnSpc>
                <a:spcPct val="135000"/>
              </a:lnSpc>
              <a:buNone/>
            </a:pPr>
            <a:r>
              <a:rPr lang="en-US" sz="900" spc="-4" kern="0" dirty="0">
                <a:solidFill>
                  <a:srgbClr val="2A2825"/>
                </a:solidFill>
                <a:latin typeface="Arial" pitchFamily="34" charset="0"/>
                <a:ea typeface="Arial" pitchFamily="34" charset="-122"/>
                <a:cs typeface="Arial" pitchFamily="34" charset="-120"/>
              </a:rPr>
              <a:t>Ex) The all-hands meeting format and agenda are new. The virtual format is unfamiliar and participant roles are unknown to frontline leaders.</a:t>
            </a:r>
            <a:endParaRPr lang="en-US" sz="900" dirty="0"/>
          </a:p>
        </p:txBody>
      </p:sp>
      <p:sp>
        <p:nvSpPr>
          <p:cNvPr id="35" name="Shape 33"/>
          <p:cNvSpPr/>
          <p:nvPr/>
        </p:nvSpPr>
        <p:spPr>
          <a:xfrm>
            <a:off x="3654400" y="6370513"/>
            <a:ext cx="2682850" cy="1315269"/>
          </a:xfrm>
          <a:prstGeom prst="roundRect">
            <a:avLst>
              <a:gd name="adj" fmla="val 10139"/>
            </a:avLst>
          </a:prstGeom>
          <a:solidFill>
            <a:srgbClr val="F5F3EF"/>
          </a:solidFill>
          <a:ln w="9525">
            <a:solidFill>
              <a:srgbClr val="D8D2C5"/>
            </a:solidFill>
            <a:prstDash val="solid"/>
          </a:ln>
        </p:spPr>
      </p:sp>
      <p:sp>
        <p:nvSpPr>
          <p:cNvPr id="36" name="Shape 34"/>
          <p:cNvSpPr/>
          <p:nvPr/>
        </p:nvSpPr>
        <p:spPr>
          <a:xfrm>
            <a:off x="6470600" y="6370513"/>
            <a:ext cx="2682850" cy="1315269"/>
          </a:xfrm>
          <a:prstGeom prst="roundRect">
            <a:avLst>
              <a:gd name="adj" fmla="val 10139"/>
            </a:avLst>
          </a:prstGeom>
          <a:solidFill>
            <a:srgbClr val="F5F3EF"/>
          </a:solidFill>
          <a:ln w="9525">
            <a:solidFill>
              <a:srgbClr val="D8D2C5"/>
            </a:solidFill>
            <a:prstDash val="solid"/>
          </a:ln>
        </p:spPr>
      </p:sp>
      <p:sp>
        <p:nvSpPr>
          <p:cNvPr id="37" name="Shape 35"/>
          <p:cNvSpPr/>
          <p:nvPr/>
        </p:nvSpPr>
        <p:spPr>
          <a:xfrm>
            <a:off x="9286801" y="6370513"/>
            <a:ext cx="2682925" cy="1315269"/>
          </a:xfrm>
          <a:prstGeom prst="roundRect">
            <a:avLst>
              <a:gd name="adj" fmla="val 10139"/>
            </a:avLst>
          </a:prstGeom>
          <a:solidFill>
            <a:srgbClr val="F5F3EF"/>
          </a:solidFill>
          <a:ln w="9525">
            <a:solidFill>
              <a:srgbClr val="D8D2C5"/>
            </a:solidFill>
            <a:prstDash val="solid"/>
          </a:ln>
        </p:spPr>
      </p:sp>
      <p:sp>
        <p:nvSpPr>
          <p:cNvPr id="38" name="Shape 36"/>
          <p:cNvSpPr/>
          <p:nvPr/>
        </p:nvSpPr>
        <p:spPr>
          <a:xfrm>
            <a:off x="12103075" y="6370513"/>
            <a:ext cx="2682850" cy="1315269"/>
          </a:xfrm>
          <a:prstGeom prst="roundRect">
            <a:avLst>
              <a:gd name="adj" fmla="val 10139"/>
            </a:avLst>
          </a:prstGeom>
          <a:solidFill>
            <a:srgbClr val="F5F3EF"/>
          </a:solidFill>
          <a:ln w="9525">
            <a:solidFill>
              <a:srgbClr val="D8D2C5"/>
            </a:solidFill>
            <a:prstDash val="solid"/>
          </a:ln>
        </p:spPr>
      </p:sp>
      <p:sp>
        <p:nvSpPr>
          <p:cNvPr id="39" name="Shape 37"/>
          <p:cNvSpPr/>
          <p:nvPr/>
        </p:nvSpPr>
        <p:spPr>
          <a:xfrm>
            <a:off x="14919275" y="6370513"/>
            <a:ext cx="2682850" cy="1315269"/>
          </a:xfrm>
          <a:prstGeom prst="roundRect">
            <a:avLst>
              <a:gd name="adj" fmla="val 10139"/>
            </a:avLst>
          </a:prstGeom>
          <a:solidFill>
            <a:srgbClr val="F5F3EF"/>
          </a:solidFill>
          <a:ln w="9525">
            <a:solidFill>
              <a:srgbClr val="D8D2C5"/>
            </a:solidFill>
            <a:prstDash val="solid"/>
          </a:ln>
        </p:spPr>
      </p:sp>
      <p:sp>
        <p:nvSpPr>
          <p:cNvPr id="40" name="Shape 38"/>
          <p:cNvSpPr/>
          <p:nvPr/>
        </p:nvSpPr>
        <p:spPr>
          <a:xfrm>
            <a:off x="838200" y="7781032"/>
            <a:ext cx="16764000" cy="9525"/>
          </a:xfrm>
          <a:prstGeom prst="rect">
            <a:avLst/>
          </a:prstGeom>
          <a:solidFill>
            <a:srgbClr val="D8D2C5"/>
          </a:solidFill>
          <a:ln/>
        </p:spPr>
      </p:sp>
      <p:sp>
        <p:nvSpPr>
          <p:cNvPr id="41" name="Text 39"/>
          <p:cNvSpPr/>
          <p:nvPr/>
        </p:nvSpPr>
        <p:spPr>
          <a:xfrm>
            <a:off x="838200" y="7885807"/>
            <a:ext cx="2171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i="1" spc="-66" kern="0" dirty="0">
                <a:solidFill>
                  <a:srgbClr val="946E24"/>
                </a:solidFill>
                <a:latin typeface="Georgia" pitchFamily="34" charset="0"/>
                <a:ea typeface="Georgia" pitchFamily="34" charset="-122"/>
                <a:cs typeface="Georgia" pitchFamily="34" charset="-120"/>
              </a:rPr>
              <a:t>Context</a:t>
            </a:r>
            <a:endParaRPr lang="en-US" sz="3300" dirty="0"/>
          </a:p>
        </p:txBody>
      </p:sp>
      <p:sp>
        <p:nvSpPr>
          <p:cNvPr id="42" name="Text 40"/>
          <p:cNvSpPr/>
          <p:nvPr/>
        </p:nvSpPr>
        <p:spPr>
          <a:xfrm>
            <a:off x="3200400" y="8090595"/>
            <a:ext cx="13931265" cy="244748"/>
          </a:xfrm>
          <a:prstGeom prst="rect">
            <a:avLst/>
          </a:prstGeom>
          <a:noFill/>
          <a:ln/>
        </p:spPr>
        <p:txBody>
          <a:bodyPr wrap="square" lIns="25400" tIns="25400" rIns="25400" bIns="25400" rtlCol="0" anchor="t">
            <a:normAutofit/>
          </a:bodyPr>
          <a:lstStyle/>
          <a:p>
            <a:pPr algn="l" indent="0" marL="0">
              <a:lnSpc>
                <a:spcPct val="140000"/>
              </a:lnSpc>
              <a:buNone/>
            </a:pPr>
            <a:r>
              <a:rPr lang="en-US" sz="1163" dirty="0">
                <a:solidFill>
                  <a:srgbClr val="2A2825"/>
                </a:solidFill>
                <a:latin typeface="Arial" pitchFamily="34" charset="0"/>
                <a:ea typeface="Arial" pitchFamily="34" charset="-122"/>
                <a:cs typeface="Arial" pitchFamily="34" charset="-120"/>
              </a:rPr>
              <a:t>The broader environment or background that gives meaning to the situation. This includes historical, cultural, and systemic factors, and provides a more comprehensive understanding.</a:t>
            </a:r>
            <a:endParaRPr lang="en-US" sz="1163" dirty="0"/>
          </a:p>
        </p:txBody>
      </p:sp>
      <p:sp>
        <p:nvSpPr>
          <p:cNvPr id="43" name="Shape 41"/>
          <p:cNvSpPr/>
          <p:nvPr/>
        </p:nvSpPr>
        <p:spPr>
          <a:xfrm>
            <a:off x="838200" y="8400157"/>
            <a:ext cx="2682850" cy="1315343"/>
          </a:xfrm>
          <a:prstGeom prst="roundRect">
            <a:avLst>
              <a:gd name="adj" fmla="val 10138"/>
            </a:avLst>
          </a:prstGeom>
          <a:solidFill>
            <a:srgbClr val="F5F3EF"/>
          </a:solidFill>
          <a:ln w="9525">
            <a:solidFill>
              <a:srgbClr val="D8D2C5"/>
            </a:solidFill>
            <a:prstDash val="solid"/>
          </a:ln>
        </p:spPr>
      </p:sp>
      <p:sp>
        <p:nvSpPr>
          <p:cNvPr id="44" name="Text 42"/>
          <p:cNvSpPr/>
          <p:nvPr/>
        </p:nvSpPr>
        <p:spPr>
          <a:xfrm>
            <a:off x="923925" y="8595047"/>
            <a:ext cx="2511400" cy="963662"/>
          </a:xfrm>
          <a:prstGeom prst="rect">
            <a:avLst/>
          </a:prstGeom>
          <a:noFill/>
          <a:ln/>
        </p:spPr>
        <p:txBody>
          <a:bodyPr wrap="square" lIns="25400" tIns="25400" rIns="25400" bIns="25400" rtlCol="0" anchor="t">
            <a:normAutofit/>
          </a:bodyPr>
          <a:lstStyle/>
          <a:p>
            <a:pPr algn="ctr" indent="0" marL="0">
              <a:lnSpc>
                <a:spcPct val="135000"/>
              </a:lnSpc>
              <a:buNone/>
            </a:pPr>
            <a:r>
              <a:rPr lang="en-US" sz="900" spc="-4" kern="0" dirty="0">
                <a:solidFill>
                  <a:srgbClr val="2A2825"/>
                </a:solidFill>
                <a:latin typeface="Arial" pitchFamily="34" charset="0"/>
                <a:ea typeface="Arial" pitchFamily="34" charset="-122"/>
                <a:cs typeface="Arial" pitchFamily="34" charset="-120"/>
              </a:rPr>
              <a:t>Ex) The meeting involves participants from multiple refinery locations in the southern U.S. for a large oil and gas company. The corporate culture values transparency but the climate encourages solving your own problems without asking for help.</a:t>
            </a:r>
            <a:endParaRPr lang="en-US" sz="900" dirty="0"/>
          </a:p>
        </p:txBody>
      </p:sp>
      <p:sp>
        <p:nvSpPr>
          <p:cNvPr id="45" name="Shape 43"/>
          <p:cNvSpPr/>
          <p:nvPr/>
        </p:nvSpPr>
        <p:spPr>
          <a:xfrm>
            <a:off x="3654400" y="8400157"/>
            <a:ext cx="2682850" cy="1315343"/>
          </a:xfrm>
          <a:prstGeom prst="roundRect">
            <a:avLst>
              <a:gd name="adj" fmla="val 10138"/>
            </a:avLst>
          </a:prstGeom>
          <a:solidFill>
            <a:srgbClr val="F5F3EF"/>
          </a:solidFill>
          <a:ln w="9525">
            <a:solidFill>
              <a:srgbClr val="D8D2C5"/>
            </a:solidFill>
            <a:prstDash val="solid"/>
          </a:ln>
        </p:spPr>
      </p:sp>
      <p:sp>
        <p:nvSpPr>
          <p:cNvPr id="46" name="Shape 44"/>
          <p:cNvSpPr/>
          <p:nvPr/>
        </p:nvSpPr>
        <p:spPr>
          <a:xfrm>
            <a:off x="6470600" y="8400157"/>
            <a:ext cx="2682850" cy="1315343"/>
          </a:xfrm>
          <a:prstGeom prst="roundRect">
            <a:avLst>
              <a:gd name="adj" fmla="val 10138"/>
            </a:avLst>
          </a:prstGeom>
          <a:solidFill>
            <a:srgbClr val="F5F3EF"/>
          </a:solidFill>
          <a:ln w="9525">
            <a:solidFill>
              <a:srgbClr val="D8D2C5"/>
            </a:solidFill>
            <a:prstDash val="solid"/>
          </a:ln>
        </p:spPr>
      </p:sp>
      <p:sp>
        <p:nvSpPr>
          <p:cNvPr id="47" name="Shape 45"/>
          <p:cNvSpPr/>
          <p:nvPr/>
        </p:nvSpPr>
        <p:spPr>
          <a:xfrm>
            <a:off x="9286801" y="8400157"/>
            <a:ext cx="2682925" cy="1315343"/>
          </a:xfrm>
          <a:prstGeom prst="roundRect">
            <a:avLst>
              <a:gd name="adj" fmla="val 10138"/>
            </a:avLst>
          </a:prstGeom>
          <a:solidFill>
            <a:srgbClr val="F5F3EF"/>
          </a:solidFill>
          <a:ln w="9525">
            <a:solidFill>
              <a:srgbClr val="D8D2C5"/>
            </a:solidFill>
            <a:prstDash val="solid"/>
          </a:ln>
        </p:spPr>
      </p:sp>
      <p:sp>
        <p:nvSpPr>
          <p:cNvPr id="48" name="Shape 46"/>
          <p:cNvSpPr/>
          <p:nvPr/>
        </p:nvSpPr>
        <p:spPr>
          <a:xfrm>
            <a:off x="12103075" y="8400157"/>
            <a:ext cx="2682850" cy="1315343"/>
          </a:xfrm>
          <a:prstGeom prst="roundRect">
            <a:avLst>
              <a:gd name="adj" fmla="val 10138"/>
            </a:avLst>
          </a:prstGeom>
          <a:solidFill>
            <a:srgbClr val="F5F3EF"/>
          </a:solidFill>
          <a:ln w="9525">
            <a:solidFill>
              <a:srgbClr val="D8D2C5"/>
            </a:solidFill>
            <a:prstDash val="solid"/>
          </a:ln>
        </p:spPr>
      </p:sp>
      <p:sp>
        <p:nvSpPr>
          <p:cNvPr id="49" name="Shape 47"/>
          <p:cNvSpPr/>
          <p:nvPr/>
        </p:nvSpPr>
        <p:spPr>
          <a:xfrm>
            <a:off x="14919275" y="8400157"/>
            <a:ext cx="2682850" cy="1315343"/>
          </a:xfrm>
          <a:prstGeom prst="roundRect">
            <a:avLst>
              <a:gd name="adj" fmla="val 10138"/>
            </a:avLst>
          </a:prstGeom>
          <a:solidFill>
            <a:srgbClr val="F5F3EF"/>
          </a:solidFill>
          <a:ln w="9525">
            <a:solidFill>
              <a:srgbClr val="D8D2C5"/>
            </a:solidFill>
            <a:prstDash val="solid"/>
          </a:ln>
        </p:spPr>
      </p:sp>
      <p:sp>
        <p:nvSpPr>
          <p:cNvPr id="50" name="Shape 48"/>
          <p:cNvSpPr/>
          <p:nvPr/>
        </p:nvSpPr>
        <p:spPr>
          <a:xfrm>
            <a:off x="838200" y="9829800"/>
            <a:ext cx="16764000" cy="9525"/>
          </a:xfrm>
          <a:prstGeom prst="rect">
            <a:avLst/>
          </a:prstGeom>
          <a:solidFill>
            <a:srgbClr val="D8D2C5"/>
          </a:solidFill>
          <a:ln/>
        </p:spPr>
      </p:sp>
      <p:sp>
        <p:nvSpPr>
          <p:cNvPr id="51" name="Text 49"/>
          <p:cNvSpPr/>
          <p:nvPr/>
        </p:nvSpPr>
        <p:spPr>
          <a:xfrm>
            <a:off x="838200" y="9896475"/>
            <a:ext cx="3434146" cy="161925"/>
          </a:xfrm>
          <a:prstGeom prst="rect">
            <a:avLst/>
          </a:prstGeom>
          <a:noFill/>
          <a:ln/>
        </p:spPr>
        <p:txBody>
          <a:bodyPr wrap="square" lIns="25400" tIns="25400" rIns="25400" bIns="25400" rtlCol="0" anchor="t">
            <a:normAutofit/>
          </a:bodyPr>
          <a:lstStyle/>
          <a:p>
            <a:pPr algn="l" indent="0" marL="0">
              <a:buNone/>
            </a:pPr>
            <a:r>
              <a:rPr lang="en-US" sz="825" b="1" spc="132" kern="0" dirty="0">
                <a:solidFill>
                  <a:srgbClr val="6F6A60"/>
                </a:solidFill>
                <a:latin typeface="Arial" pitchFamily="34" charset="0"/>
                <a:ea typeface="Arial" pitchFamily="34" charset="-122"/>
                <a:cs typeface="Arial" pitchFamily="34" charset="-120"/>
              </a:rPr>
              <a:t>PROGRAM EVALUATION DESIGN PORTFOLIO PROJECT</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2026-05-21T21:22:31Z</dcterms:created>
  <dcterms:modified xsi:type="dcterms:W3CDTF">2026-05-21T21:22:31Z</dcterms:modified>
</cp:coreProperties>
</file>